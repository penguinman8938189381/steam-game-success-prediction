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38FDEC-826B-4432-9A86-72BB47A4D2D7}">
  <a:tblStyle styleId="{4038FDEC-826B-4432-9A86-72BB47A4D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fb2b38a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fb2b38a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a89285e0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a89285e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f98dc2ba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f98dc2ba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288da3a7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288da3a7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7fc11d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f07fc11d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f07fc11dc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f07fc11dc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f07fc11d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f07fc11d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f07fc11dc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f07fc11dc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f07fc11d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f07fc11d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f07fc11dc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f07fc11dc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f07fc11d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f07fc11d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a89285e0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a89285e0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27836b54c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27836b54c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a89285e0a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a89285e0a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2672630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2672630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288da3a7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288da3a7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a89285e0a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a89285e0a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288da3a7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288da3a7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2672630e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2672630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a89285e0a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a89285e0a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4a89285e0a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4a89285e0a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27836b54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27836b54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27836b54c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27836b54c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f98dc2ba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4f98dc2ba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6283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  <a:defRPr sz="2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800"/>
              <a:buFont typeface="Verdana"/>
              <a:buChar char="●"/>
              <a:defRPr sz="18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○"/>
              <a:defRPr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■"/>
              <a:defRPr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●"/>
              <a:defRPr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○"/>
              <a:defRPr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■"/>
              <a:defRPr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●"/>
              <a:defRPr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○"/>
              <a:defRPr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■"/>
              <a:defRPr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jp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jp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jp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 Wallpaper: Steam Technology in Stunning Detail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0" cy="514549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Steam Games Dataset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443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BA305 B8 Team 8 By Elmir Shabayev, Daniel Wu, Naser Salas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679447" y="3172325"/>
            <a:ext cx="23196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Daniel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Heavy (Team Fortress 2 lore) | Goblineer Lore Wiki | Fandom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360" y="1354674"/>
            <a:ext cx="1657800" cy="1689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Garry's Mod video game - Fonts In Use" id="63" name="Google Shape;63;p14"/>
          <p:cNvPicPr preferRelativeResize="0"/>
          <p:nvPr/>
        </p:nvPicPr>
        <p:blipFill rotWithShape="1">
          <a:blip r:embed="rId4">
            <a:alphaModFix/>
          </a:blip>
          <a:srcRect b="0" l="16103" r="22339" t="0"/>
          <a:stretch/>
        </p:blipFill>
        <p:spPr>
          <a:xfrm>
            <a:off x="3515075" y="0"/>
            <a:ext cx="56289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3492638" y="0"/>
            <a:ext cx="56289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6220397" y="3172325"/>
            <a:ext cx="23196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Elmir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449922" y="3172325"/>
            <a:ext cx="23196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Naser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8" name="Google Shape;68;p14" title="Screenshot 2025-04-23 at 15.29.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000" y="1421725"/>
            <a:ext cx="1789500" cy="1555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4975" y="1421725"/>
            <a:ext cx="1789500" cy="1555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eam, The Ultimate Online Game Platform" id="74" name="Google Shape;74;p15"/>
          <p:cNvPicPr preferRelativeResize="0"/>
          <p:nvPr/>
        </p:nvPicPr>
        <p:blipFill rotWithShape="1">
          <a:blip r:embed="rId3">
            <a:alphaModFix/>
          </a:blip>
          <a:srcRect b="0" l="43592" r="0" t="0"/>
          <a:stretch/>
        </p:blipFill>
        <p:spPr>
          <a:xfrm>
            <a:off x="3613250" y="0"/>
            <a:ext cx="5530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3664055" y="0"/>
            <a:ext cx="44556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</a:t>
            </a:r>
            <a:r>
              <a:rPr lang="en"/>
              <a:t>Predicting positive rating based on steam page features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505875"/>
            <a:ext cx="5862600" cy="31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Steam is an online game distribution platform where video game developers submit their projects for players to enjoy.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 video game developers, we want to find what could influence the reception of the video game from the catalogue of features Steam allows developers to describe/include on the page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eam, The Ultimate Online Game Platform" id="82" name="Google Shape;82;p16"/>
          <p:cNvPicPr preferRelativeResize="0"/>
          <p:nvPr/>
        </p:nvPicPr>
        <p:blipFill rotWithShape="1">
          <a:blip r:embed="rId3">
            <a:alphaModFix/>
          </a:blip>
          <a:srcRect b="0" l="43592" r="0" t="0"/>
          <a:stretch/>
        </p:blipFill>
        <p:spPr>
          <a:xfrm>
            <a:off x="3613250" y="0"/>
            <a:ext cx="5530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3664055" y="0"/>
            <a:ext cx="44556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527588" y="2571750"/>
            <a:ext cx="29178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Columns: 39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27600" y="1336325"/>
            <a:ext cx="29178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Predictive Variable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766725" y="1336325"/>
            <a:ext cx="4053900" cy="6165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Positive% (Percentage of positive reviews over total number of reviews)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527588" y="3807175"/>
            <a:ext cx="29178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Rows: 96000+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766725" y="2571750"/>
            <a:ext cx="4053900" cy="6165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Ex: Name, Release Date, About the game 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3766725" y="3790950"/>
            <a:ext cx="4053900" cy="6165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Each row represents a game and its features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1 - Data cleaning netted no predictive power</a:t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11700" y="1553925"/>
            <a:ext cx="29178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Notes Encoding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113100" y="1553925"/>
            <a:ext cx="29178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Pruning Sparse Features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5914500" y="1553925"/>
            <a:ext cx="29178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Dummy Variables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11700" y="2170425"/>
            <a:ext cx="2801400" cy="23049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Converted notes to binary  (0 = no notes, 1 = note present)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3113100" y="2170425"/>
            <a:ext cx="2801400" cy="23049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Categories/Genres: Drop the values below the mean frequency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Kept only “Tags,” with greater than 10,000 entries</a:t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5914500" y="2170425"/>
            <a:ext cx="2917800" cy="23049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Created dummy variables for all categorical variables within language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Kept the top 10 languages used in all games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Data Composition and Cleaning </a:t>
            </a:r>
            <a:r>
              <a:rPr lang="en"/>
              <a:t>Iteration 1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91500" y="1163600"/>
            <a:ext cx="3062700" cy="11550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Raw Dataset - 39 Columns</a:t>
            </a:r>
            <a:endParaRPr sz="2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5389825" y="1163600"/>
            <a:ext cx="3062700" cy="11550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Iteration 1 - 75 Columns</a:t>
            </a:r>
            <a:endParaRPr sz="2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056913" y="1454750"/>
            <a:ext cx="10302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10" name="Google Shape;110;p18"/>
          <p:cNvGraphicFramePr/>
          <p:nvPr/>
        </p:nvGraphicFramePr>
        <p:xfrm>
          <a:off x="311700" y="246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840200"/>
                <a:gridCol w="2840200"/>
                <a:gridCol w="2840200"/>
              </a:tblGrid>
              <a:tr h="4492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Benchmark RMSE: 24.89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KNN Regressor 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MSE: 23.65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Decision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 Tree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MSE: 32.70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highlight>
                            <a:srgbClr val="66C0F4"/>
                          </a:highlight>
                        </a:rPr>
                        <a:t>Best R</a:t>
                      </a:r>
                      <a:r>
                        <a:rPr lang="en">
                          <a:solidFill>
                            <a:schemeClr val="lt1"/>
                          </a:solidFill>
                          <a:highlight>
                            <a:srgbClr val="66C0F4"/>
                          </a:highlight>
                        </a:rPr>
                        <a:t>MSE: 22.94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66C0F4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Linear Regression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23.55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Neural Network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23.37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2 - Other languages unreliably improves model performance</a:t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673" y="1378600"/>
            <a:ext cx="4373627" cy="3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357075" y="1378600"/>
            <a:ext cx="39447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Initial Language Encoding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357075" y="1995100"/>
            <a:ext cx="3944700" cy="28263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One-Hot-encoded top 10 languages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Combined the rest into an “Other Languages” Column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97.5% Feature importance (Random Forest)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Although other languages seems highly correlated, this shouldn’t discount other features that may affect a games reception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Data Composition and Cleaning </a:t>
            </a:r>
            <a:r>
              <a:rPr lang="en"/>
              <a:t>Iteration 2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691500" y="1163600"/>
            <a:ext cx="3062700" cy="11550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Iteration 1 - 75 Columns</a:t>
            </a:r>
            <a:endParaRPr sz="2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5389825" y="1163600"/>
            <a:ext cx="3062700" cy="11550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Iteration 2 - 76  Columns</a:t>
            </a:r>
            <a:endParaRPr sz="2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4056913" y="1454750"/>
            <a:ext cx="10302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27" name="Google Shape;127;p20"/>
          <p:cNvGraphicFramePr/>
          <p:nvPr/>
        </p:nvGraphicFramePr>
        <p:xfrm>
          <a:off x="311700" y="246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840200"/>
                <a:gridCol w="2840200"/>
                <a:gridCol w="2840200"/>
              </a:tblGrid>
              <a:tr h="4492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Benchmark RMSE: 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24.62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KNN Regressor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15.27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Decision Tree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2.32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22.94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Linear Regression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2.02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Neural Network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highlight>
                            <a:srgbClr val="66C0F4"/>
                          </a:highlight>
                        </a:rPr>
                        <a:t>Best RMSE: 1.49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3 - AI generated columns do not have enough variance to improve predictions</a:t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243250" y="1113450"/>
            <a:ext cx="42306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Chat GPT Generated Features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243250" y="3078681"/>
            <a:ext cx="42306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Language Aggregation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4670150" y="1113450"/>
            <a:ext cx="42306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Transformations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4670150" y="3078675"/>
            <a:ext cx="42306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Categorical Features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243250" y="1684286"/>
            <a:ext cx="4230600" cy="13944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Scored “About the game” and “Notes” text quality (0-10) scale</a:t>
            </a:r>
            <a:endParaRPr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Create new game-level features:</a:t>
            </a:r>
            <a:endParaRPr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400"/>
              <a:buFont typeface="Verdana"/>
              <a:buChar char="●"/>
            </a:pPr>
            <a:r>
              <a:rPr lang="en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Development time, Game Budget (AAA/AA/Indie), Estimated runtime, Ad Quality, Controller support, Difficulty</a:t>
            </a:r>
            <a:endParaRPr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243250" y="3695179"/>
            <a:ext cx="4230600" cy="13944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Introduced “total languages,” by summing all languages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Removed “other languages” in favor of this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670150" y="1684286"/>
            <a:ext cx="4230600" cy="13944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Aggregated publisher/developer experience into total game count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4670150" y="3695186"/>
            <a:ext cx="4230600" cy="13944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250"/>
              <a:buFont typeface="Verdana"/>
              <a:buChar char="●"/>
            </a:pPr>
            <a:r>
              <a:rPr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Extracted “Season,” from release month and calculated “Years Old,” from release year</a:t>
            </a:r>
            <a:endParaRPr sz="125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250"/>
              <a:buFont typeface="Verdana"/>
              <a:buChar char="●"/>
            </a:pPr>
            <a:r>
              <a:rPr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Counted values in </a:t>
            </a:r>
            <a:r>
              <a:rPr b="1"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Categories</a:t>
            </a:r>
            <a:r>
              <a:rPr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Genres</a:t>
            </a:r>
            <a:r>
              <a:rPr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Tags</a:t>
            </a:r>
            <a:r>
              <a:rPr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Supported languages</a:t>
            </a:r>
            <a:r>
              <a:rPr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, and </a:t>
            </a:r>
            <a:r>
              <a:rPr b="1"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Audio languages</a:t>
            </a:r>
            <a:endParaRPr b="1" sz="125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250"/>
              <a:buFont typeface="Verdana"/>
              <a:buChar char="●"/>
            </a:pPr>
            <a:r>
              <a:rPr lang="en" sz="125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One hot encoded Game Budget, Difficulty, Season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Data Composition and Cleaning </a:t>
            </a:r>
            <a:r>
              <a:rPr lang="en"/>
              <a:t>Iteration 3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691500" y="1163600"/>
            <a:ext cx="3062700" cy="11550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Iteration 2 - 75 Columns</a:t>
            </a:r>
            <a:endParaRPr sz="2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5389825" y="1163600"/>
            <a:ext cx="3062700" cy="11550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Iteration 3 - 53 Columns</a:t>
            </a:r>
            <a:endParaRPr sz="2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4056913" y="1454750"/>
            <a:ext cx="10302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49" name="Google Shape;149;p22"/>
          <p:cNvGraphicFramePr/>
          <p:nvPr/>
        </p:nvGraphicFramePr>
        <p:xfrm>
          <a:off x="311700" y="254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840200"/>
                <a:gridCol w="2840200"/>
                <a:gridCol w="2840200"/>
              </a:tblGrid>
              <a:tr h="4492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Benchmark RMSE: 24.64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KNN Regressor 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23.68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Decision Tree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32.50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highlight>
                            <a:srgbClr val="66C0F4"/>
                          </a:highlight>
                        </a:rPr>
                        <a:t>Best </a:t>
                      </a:r>
                      <a:r>
                        <a:rPr b="1" lang="en">
                          <a:solidFill>
                            <a:schemeClr val="lt1"/>
                          </a:solidFill>
                          <a:highlight>
                            <a:srgbClr val="66C0F4"/>
                          </a:highlight>
                        </a:rPr>
                        <a:t>RMSE: 22.72</a:t>
                      </a:r>
                      <a:endParaRPr b="1">
                        <a:solidFill>
                          <a:schemeClr val="lt1"/>
                        </a:solidFill>
                        <a:highlight>
                          <a:srgbClr val="66C0F4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Linear Regression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23.61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Neural Network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23.13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4 - Searched for additional datasets with promising features to improve predictions</a:t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4799413" y="1181250"/>
            <a:ext cx="4216500" cy="1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950">
                <a:solidFill>
                  <a:schemeClr val="dk1"/>
                </a:solidFill>
              </a:rPr>
            </a:br>
            <a:endParaRPr sz="9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128088" y="1480875"/>
            <a:ext cx="44133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Merge Datasets and Keep Key Features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128088" y="2097375"/>
            <a:ext cx="4413300" cy="28584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200"/>
              <a:buFont typeface="Verdana"/>
              <a:buChar char="●"/>
            </a:pPr>
            <a:r>
              <a:rPr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Retained High-Importance Features, “Notes Quality,” and “About the Game Quality,” (0-10) scores from ChatGPT</a:t>
            </a:r>
            <a:endParaRPr sz="12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200"/>
              <a:buFont typeface="Verdana"/>
              <a:buChar char="●"/>
            </a:pPr>
            <a:r>
              <a:rPr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Dropped other Chat GPT features due to low accuracy</a:t>
            </a:r>
            <a:endParaRPr sz="12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External Dataset Attempts</a:t>
            </a:r>
            <a:endParaRPr b="1" sz="12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7D5E0"/>
              </a:buClr>
              <a:buSzPts val="1200"/>
              <a:buFont typeface="Verdana"/>
              <a:buChar char="●"/>
            </a:pPr>
            <a:r>
              <a:rPr b="1"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Dataset 1</a:t>
            </a:r>
            <a:r>
              <a:rPr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: Had repeated game names, reduced to 5,000 rows after grouping → not merged</a:t>
            </a:r>
            <a:endParaRPr sz="12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200"/>
              <a:buFont typeface="Verdana"/>
              <a:buChar char="●"/>
            </a:pPr>
            <a:r>
              <a:rPr b="1"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Dataset 2</a:t>
            </a:r>
            <a:r>
              <a:rPr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: No matching names with our dataset → not used</a:t>
            </a:r>
            <a:endParaRPr sz="12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200"/>
              <a:buFont typeface="Verdana"/>
              <a:buChar char="●"/>
            </a:pPr>
            <a:r>
              <a:rPr b="1"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Dataset 3</a:t>
            </a:r>
            <a:r>
              <a:rPr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: Successfully merged</a:t>
            </a:r>
            <a:endParaRPr sz="12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200"/>
              <a:buFont typeface="Verdana"/>
              <a:buChar char="○"/>
            </a:pPr>
            <a:r>
              <a:rPr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Used review stats + Chat GPT-rated </a:t>
            </a:r>
            <a:r>
              <a:rPr b="1"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short</a:t>
            </a:r>
            <a:r>
              <a:rPr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1"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detailed descriptions</a:t>
            </a:r>
            <a:r>
              <a:rPr lang="en" sz="12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 (0–10)</a:t>
            </a:r>
            <a:endParaRPr sz="12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4602613" y="1480875"/>
            <a:ext cx="4413300" cy="6165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Final Transformation</a:t>
            </a:r>
            <a:endParaRPr b="1"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4602613" y="2097375"/>
            <a:ext cx="4413300" cy="28584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One-hot-encoded: Estimated owners and seasons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Dropped redundant Features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Ensure no duplicate rows, or missing values remained 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500"/>
              <a:buFont typeface="Verdana"/>
              <a:buChar char="●"/>
            </a:pPr>
            <a:r>
              <a:rPr lang="en" sz="15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Removed original text columns (short_description, detailed_description, about_the_game) after extracting Chat GPT scores</a:t>
            </a:r>
            <a:endParaRPr sz="15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Data Composition and Cleaning </a:t>
            </a:r>
            <a:r>
              <a:rPr lang="en"/>
              <a:t>Iteration 4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691500" y="1163600"/>
            <a:ext cx="3062700" cy="11550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Iteration 3 - 53 Columns</a:t>
            </a:r>
            <a:endParaRPr sz="2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5389825" y="1163600"/>
            <a:ext cx="3062700" cy="11550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Iteration 4 - 49 Columns</a:t>
            </a:r>
            <a:endParaRPr sz="2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4056913" y="1454750"/>
            <a:ext cx="10302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68" name="Google Shape;168;p24"/>
          <p:cNvGraphicFramePr/>
          <p:nvPr/>
        </p:nvGraphicFramePr>
        <p:xfrm>
          <a:off x="311700" y="246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840200"/>
                <a:gridCol w="2840200"/>
                <a:gridCol w="2840200"/>
              </a:tblGrid>
              <a:tr h="4492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Benchmark RMSE: 24.04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KNN Regressor 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21.64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Decision Tree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26.62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highlight>
                            <a:srgbClr val="66C0F4"/>
                          </a:highlight>
                        </a:rPr>
                        <a:t>Best </a:t>
                      </a:r>
                      <a:r>
                        <a:rPr b="1" lang="en">
                          <a:solidFill>
                            <a:schemeClr val="lt1"/>
                          </a:solidFill>
                          <a:highlight>
                            <a:srgbClr val="66C0F4"/>
                          </a:highlight>
                        </a:rPr>
                        <a:t>RMSE: 18.65</a:t>
                      </a:r>
                      <a:endParaRPr b="1">
                        <a:solidFill>
                          <a:schemeClr val="lt1"/>
                        </a:solidFill>
                        <a:highlight>
                          <a:srgbClr val="66C0F4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Linear Regression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21.52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Neural Network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RMSE: 18.81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Data Composition and Cleaning </a:t>
            </a:r>
            <a:r>
              <a:rPr lang="en"/>
              <a:t>Summary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74" name="Google Shape;174;p25"/>
          <p:cNvGraphicFramePr/>
          <p:nvPr/>
        </p:nvGraphicFramePr>
        <p:xfrm>
          <a:off x="311700" y="135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433225"/>
                <a:gridCol w="1827075"/>
                <a:gridCol w="2130150"/>
                <a:gridCol w="2130150"/>
              </a:tblGrid>
              <a:tr h="82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Raw Dataset - 39 Columns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————&gt;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Iteration 1 - 75 Columns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0000"/>
                          </a:solidFill>
                        </a:rPr>
                        <a:t>Best RMSE: 22.94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Iteration 1 - 75 Columns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————&gt;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Iteration 2 - 76 Columns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00FF00"/>
                          </a:solidFill>
                        </a:rPr>
                        <a:t>Best RMSE: 1.49</a:t>
                      </a:r>
                      <a:endParaRPr sz="17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74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Iteration 2 - 75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————&gt;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Iteration 3 - 53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Best RMSE: 22.72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4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Iteration 3 - 53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————&gt;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</a:rPr>
                        <a:t>Iteration 4 - 49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highlight>
                            <a:srgbClr val="66C0F4"/>
                          </a:highlight>
                        </a:rPr>
                        <a:t>Best RMSE: 18.65</a:t>
                      </a:r>
                      <a:endParaRPr sz="1700">
                        <a:solidFill>
                          <a:schemeClr val="lt1"/>
                        </a:solidFill>
                        <a:highlight>
                          <a:srgbClr val="66C0F4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6" title="Screenshot 2025-04-23 at 16.17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1472" y="0"/>
            <a:ext cx="991842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/>
          <p:nvPr/>
        </p:nvSpPr>
        <p:spPr>
          <a:xfrm>
            <a:off x="-341474" y="0"/>
            <a:ext cx="104664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/>
          <p:nvPr/>
        </p:nvSpPr>
        <p:spPr>
          <a:xfrm rot="10800000">
            <a:off x="-889449" y="0"/>
            <a:ext cx="104664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original </a:t>
            </a:r>
            <a:r>
              <a:rPr lang="en"/>
              <a:t>columns in dataset has l</a:t>
            </a:r>
            <a:r>
              <a:rPr lang="en"/>
              <a:t>ow variance leading to low </a:t>
            </a:r>
            <a:r>
              <a:rPr lang="en"/>
              <a:t>predictive powers</a:t>
            </a: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037" y="1511581"/>
            <a:ext cx="4202926" cy="3327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8913" y="1511575"/>
            <a:ext cx="4283050" cy="33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anking the classic “Mega Man” games – The Hawk Eye"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5" y="0"/>
            <a:ext cx="91404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/>
          <p:nvPr/>
        </p:nvSpPr>
        <p:spPr>
          <a:xfrm>
            <a:off x="-341474" y="0"/>
            <a:ext cx="104664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/>
          <p:nvPr/>
        </p:nvSpPr>
        <p:spPr>
          <a:xfrm rot="10800000">
            <a:off x="-889449" y="0"/>
            <a:ext cx="104664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Generated and added columns from other datasets have more variance, results more predictive power</a:t>
            </a:r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75" y="1688025"/>
            <a:ext cx="3955400" cy="24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 rotWithShape="1">
          <a:blip r:embed="rId5">
            <a:alphaModFix/>
          </a:blip>
          <a:srcRect b="0" l="0" r="49821" t="0"/>
          <a:stretch/>
        </p:blipFill>
        <p:spPr>
          <a:xfrm>
            <a:off x="4033680" y="1679439"/>
            <a:ext cx="5043096" cy="24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den Ring - PS4 &amp; PS5 games | PlayStation (Canada)" id="199" name="Google Shape;199;p28"/>
          <p:cNvPicPr preferRelativeResize="0"/>
          <p:nvPr/>
        </p:nvPicPr>
        <p:blipFill rotWithShape="1">
          <a:blip r:embed="rId3">
            <a:alphaModFix/>
          </a:blip>
          <a:srcRect b="0" l="0" r="24670" t="0"/>
          <a:stretch/>
        </p:blipFill>
        <p:spPr>
          <a:xfrm>
            <a:off x="2258572" y="0"/>
            <a:ext cx="6885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8"/>
          <p:cNvSpPr/>
          <p:nvPr/>
        </p:nvSpPr>
        <p:spPr>
          <a:xfrm>
            <a:off x="2258575" y="0"/>
            <a:ext cx="63747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311700" y="291750"/>
            <a:ext cx="4517700" cy="8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 does not align feel with the dataset </a:t>
            </a:r>
            <a:endParaRPr/>
          </a:p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356600" y="1054100"/>
            <a:ext cx="3627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Conducted Cross Validation and </a:t>
            </a:r>
            <a:r>
              <a:rPr lang="en"/>
              <a:t>found</a:t>
            </a:r>
            <a:r>
              <a:rPr lang="en"/>
              <a:t> the average score.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Relationship between features and response variables is not linear which is why RMSE is not decreased much.</a:t>
            </a:r>
            <a:endParaRPr/>
          </a:p>
        </p:txBody>
      </p:sp>
      <p:graphicFrame>
        <p:nvGraphicFramePr>
          <p:cNvPr id="203" name="Google Shape;203;p28"/>
          <p:cNvGraphicFramePr/>
          <p:nvPr/>
        </p:nvGraphicFramePr>
        <p:xfrm>
          <a:off x="952500" y="447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987100"/>
                <a:gridCol w="63240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Benchmark RMSE: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24.04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Average CV RMSE: 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21.92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</a:tbl>
          </a:graphicData>
        </a:graphic>
      </p:graphicFrame>
      <p:pic>
        <p:nvPicPr>
          <p:cNvPr id="204" name="Google Shape;20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1425" y="1347700"/>
            <a:ext cx="4955625" cy="28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er-Strike 2 on Steam" id="209" name="Google Shape;209;p29"/>
          <p:cNvPicPr preferRelativeResize="0"/>
          <p:nvPr/>
        </p:nvPicPr>
        <p:blipFill rotWithShape="1">
          <a:blip r:embed="rId3">
            <a:alphaModFix/>
          </a:blip>
          <a:srcRect b="0" l="0" r="36143" t="0"/>
          <a:stretch/>
        </p:blipFill>
        <p:spPr>
          <a:xfrm>
            <a:off x="3414400" y="0"/>
            <a:ext cx="57295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/>
          <p:nvPr/>
        </p:nvSpPr>
        <p:spPr>
          <a:xfrm>
            <a:off x="3414399" y="0"/>
            <a:ext cx="52275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311700" y="291725"/>
            <a:ext cx="5433300" cy="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 Regressor improved with more neighbors up to a point</a:t>
            </a:r>
            <a:endParaRPr/>
          </a:p>
        </p:txBody>
      </p:sp>
      <p:sp>
        <p:nvSpPr>
          <p:cNvPr id="212" name="Google Shape;212;p29"/>
          <p:cNvSpPr txBox="1"/>
          <p:nvPr/>
        </p:nvSpPr>
        <p:spPr>
          <a:xfrm>
            <a:off x="448825" y="1435500"/>
            <a:ext cx="36174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800"/>
              <a:buFont typeface="Verdana"/>
              <a:buChar char="●"/>
            </a:pPr>
            <a:r>
              <a:rPr lang="en" sz="18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We used increments of 10 for num_neighbors and checked the CV score</a:t>
            </a:r>
            <a:endParaRPr sz="18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D5E0"/>
              </a:buClr>
              <a:buSzPts val="1800"/>
              <a:buFont typeface="Verdana"/>
              <a:buChar char="●"/>
            </a:pPr>
            <a:r>
              <a:rPr lang="en" sz="1800">
                <a:solidFill>
                  <a:srgbClr val="C7D5E0"/>
                </a:solidFill>
                <a:latin typeface="Verdana"/>
                <a:ea typeface="Verdana"/>
                <a:cs typeface="Verdana"/>
                <a:sym typeface="Verdana"/>
              </a:rPr>
              <a:t>The best number of neighbors we found is 34.  </a:t>
            </a:r>
            <a:endParaRPr sz="1800">
              <a:solidFill>
                <a:srgbClr val="C7D5E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3" name="Google Shape;21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3688" y="1294413"/>
            <a:ext cx="4338601" cy="2692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4" name="Google Shape;214;p29"/>
          <p:cNvGraphicFramePr/>
          <p:nvPr/>
        </p:nvGraphicFramePr>
        <p:xfrm>
          <a:off x="631950" y="414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370750"/>
                <a:gridCol w="5509350"/>
              </a:tblGrid>
              <a:tr h="50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Benchmark RMSE: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24.04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Tuned Parameter Result - CV AVG RMSE: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21.87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N-Neighbors: 34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215" name="Google Shape;215;p29"/>
          <p:cNvSpPr/>
          <p:nvPr/>
        </p:nvSpPr>
        <p:spPr>
          <a:xfrm>
            <a:off x="6572750" y="3477750"/>
            <a:ext cx="252300" cy="25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ad by Daylight | Download and Buy Today - Epic Games Store" id="220" name="Google Shape;220;p30"/>
          <p:cNvPicPr preferRelativeResize="0"/>
          <p:nvPr/>
        </p:nvPicPr>
        <p:blipFill rotWithShape="1">
          <a:blip r:embed="rId3">
            <a:alphaModFix/>
          </a:blip>
          <a:srcRect b="0" l="15399" r="16968" t="0"/>
          <a:stretch/>
        </p:blipFill>
        <p:spPr>
          <a:xfrm>
            <a:off x="4130750" y="0"/>
            <a:ext cx="61846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0"/>
          <p:cNvSpPr/>
          <p:nvPr/>
        </p:nvSpPr>
        <p:spPr>
          <a:xfrm>
            <a:off x="3916549" y="0"/>
            <a:ext cx="52275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>
            <p:ph type="title"/>
          </p:nvPr>
        </p:nvSpPr>
        <p:spPr>
          <a:xfrm>
            <a:off x="311700" y="273775"/>
            <a:ext cx="59628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tuning </a:t>
            </a:r>
            <a:r>
              <a:rPr lang="en"/>
              <a:t>greatly improves model performance</a:t>
            </a:r>
            <a:r>
              <a:rPr lang="en"/>
              <a:t> </a:t>
            </a:r>
            <a:endParaRPr/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311700" y="1152475"/>
            <a:ext cx="4182900" cy="28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Tuned the parameters with GridSearch and found the combination with least CV score.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Pruned the tree until we found the an alpha with the least CV score.</a:t>
            </a:r>
            <a:endParaRPr/>
          </a:p>
        </p:txBody>
      </p:sp>
      <p:graphicFrame>
        <p:nvGraphicFramePr>
          <p:cNvPr id="224" name="Google Shape;224;p30"/>
          <p:cNvGraphicFramePr/>
          <p:nvPr/>
        </p:nvGraphicFramePr>
        <p:xfrm>
          <a:off x="209550" y="399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1503825"/>
                <a:gridCol w="2251350"/>
                <a:gridCol w="1829425"/>
                <a:gridCol w="1889625"/>
                <a:gridCol w="1250650"/>
              </a:tblGrid>
              <a:tr h="205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Benchmark RMSE: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24.04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Tuned Parameter Result - CV AVG RMSE: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19.5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8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Max Depth: 10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Min Impurity Decrease: 0.05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Min Samples Leaf: 8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Min Samples Split: 20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Alpha: 0.55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5" name="Google Shape;22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875" y="1250831"/>
            <a:ext cx="4182899" cy="2641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ad by Daylight | Download and Buy Today - Epic Games Store"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15399" r="16968" t="0"/>
          <a:stretch/>
        </p:blipFill>
        <p:spPr>
          <a:xfrm>
            <a:off x="4130750" y="0"/>
            <a:ext cx="61846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/>
          <p:nvPr/>
        </p:nvSpPr>
        <p:spPr>
          <a:xfrm>
            <a:off x="3916549" y="0"/>
            <a:ext cx="52275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1" title="Screenshot 2025-04-23 at 14.45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325" y="941975"/>
            <a:ext cx="8129352" cy="397337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 txBox="1"/>
          <p:nvPr>
            <p:ph type="title"/>
          </p:nvPr>
        </p:nvSpPr>
        <p:spPr>
          <a:xfrm>
            <a:off x="311700" y="391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</a:t>
            </a:r>
            <a:r>
              <a:rPr lang="en"/>
              <a:t>Decision Tree: Interpretable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me of the Cyberpunk 2077 universe — games, anime &amp; more" id="238" name="Google Shape;238;p32"/>
          <p:cNvPicPr preferRelativeResize="0"/>
          <p:nvPr/>
        </p:nvPicPr>
        <p:blipFill rotWithShape="1">
          <a:blip r:embed="rId3">
            <a:alphaModFix/>
          </a:blip>
          <a:srcRect b="0" l="49292" r="0" t="0"/>
          <a:stretch/>
        </p:blipFill>
        <p:spPr>
          <a:xfrm>
            <a:off x="3986600" y="0"/>
            <a:ext cx="5157350" cy="50853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2"/>
          <p:cNvSpPr/>
          <p:nvPr/>
        </p:nvSpPr>
        <p:spPr>
          <a:xfrm>
            <a:off x="3916499" y="0"/>
            <a:ext cx="52275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"/>
          <p:cNvSpPr txBox="1"/>
          <p:nvPr>
            <p:ph type="title"/>
          </p:nvPr>
        </p:nvSpPr>
        <p:spPr>
          <a:xfrm>
            <a:off x="311700" y="372525"/>
            <a:ext cx="69816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 performs well but limited by computational intensity</a:t>
            </a:r>
            <a:endParaRPr/>
          </a:p>
        </p:txBody>
      </p: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311700" y="1189525"/>
            <a:ext cx="4260300" cy="27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Grid Search to find best parameter combination.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Neural Network achieved second lowest CV average.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</a:t>
            </a:r>
            <a:r>
              <a:rPr lang="en"/>
              <a:t>tuning</a:t>
            </a:r>
            <a:r>
              <a:rPr lang="en"/>
              <a:t> because models </a:t>
            </a:r>
            <a:r>
              <a:rPr lang="en"/>
              <a:t>take long to run.</a:t>
            </a:r>
            <a:endParaRPr/>
          </a:p>
        </p:txBody>
      </p:sp>
      <p:pic>
        <p:nvPicPr>
          <p:cNvPr id="242" name="Google Shape;24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9125" y="1129775"/>
            <a:ext cx="4149775" cy="2825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32"/>
          <p:cNvGraphicFramePr/>
          <p:nvPr/>
        </p:nvGraphicFramePr>
        <p:xfrm>
          <a:off x="311688" y="414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393575"/>
                <a:gridCol w="1142200"/>
                <a:gridCol w="2415975"/>
                <a:gridCol w="2568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Benchmark RMSE: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24.04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Tuned Parameter Result - CV AVG RMSE: 19.44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Activation: Logistic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Alpha: 1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Hidden Layer Size: 100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Learning Rate: Constant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32"/>
          <p:cNvSpPr/>
          <p:nvPr/>
        </p:nvSpPr>
        <p:spPr>
          <a:xfrm>
            <a:off x="8265025" y="3258425"/>
            <a:ext cx="567300" cy="572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rdew Valley on Steam" id="249" name="Google Shape;249;p33"/>
          <p:cNvPicPr preferRelativeResize="0"/>
          <p:nvPr/>
        </p:nvPicPr>
        <p:blipFill rotWithShape="1">
          <a:blip r:embed="rId3">
            <a:alphaModFix/>
          </a:blip>
          <a:srcRect b="0" l="12302" r="32231" t="0"/>
          <a:stretch/>
        </p:blipFill>
        <p:spPr>
          <a:xfrm>
            <a:off x="4165025" y="0"/>
            <a:ext cx="49789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/>
          <p:nvPr/>
        </p:nvSpPr>
        <p:spPr>
          <a:xfrm>
            <a:off x="4165025" y="0"/>
            <a:ext cx="49791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3"/>
          <p:cNvSpPr txBox="1"/>
          <p:nvPr>
            <p:ph type="title"/>
          </p:nvPr>
        </p:nvSpPr>
        <p:spPr>
          <a:xfrm>
            <a:off x="311700" y="350075"/>
            <a:ext cx="57024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performed the best due to </a:t>
            </a:r>
            <a:r>
              <a:rPr lang="en"/>
              <a:t>robustness</a:t>
            </a:r>
            <a:endParaRPr/>
          </a:p>
        </p:txBody>
      </p:sp>
      <p:sp>
        <p:nvSpPr>
          <p:cNvPr id="252" name="Google Shape;252;p33"/>
          <p:cNvSpPr txBox="1"/>
          <p:nvPr>
            <p:ph idx="1" type="body"/>
          </p:nvPr>
        </p:nvSpPr>
        <p:spPr>
          <a:xfrm>
            <a:off x="311700" y="1152475"/>
            <a:ext cx="3968700" cy="28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Again, GridSearch to find optimal combination of parameters.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Computational limits forced us to run 3 </a:t>
            </a:r>
            <a:r>
              <a:rPr lang="en"/>
              <a:t>tuning</a:t>
            </a:r>
            <a:r>
              <a:rPr lang="en"/>
              <a:t> models with different parameter values.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new features we added have high importance.</a:t>
            </a:r>
            <a:endParaRPr/>
          </a:p>
        </p:txBody>
      </p:sp>
      <p:graphicFrame>
        <p:nvGraphicFramePr>
          <p:cNvPr id="253" name="Google Shape;253;p33"/>
          <p:cNvGraphicFramePr/>
          <p:nvPr/>
        </p:nvGraphicFramePr>
        <p:xfrm>
          <a:off x="311688" y="404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{4038FDEC-826B-4432-9A86-72BB47A4D2D7}</a:tableStyleId>
              </a:tblPr>
              <a:tblGrid>
                <a:gridCol w="2342150"/>
                <a:gridCol w="1938775"/>
                <a:gridCol w="2085525"/>
                <a:gridCol w="2154175"/>
              </a:tblGrid>
              <a:tr h="42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Benchmark RMSE: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24.04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Tuned Parameter Result - CV AVG RMSE: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</a:rPr>
                        <a:t>19.00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Max Depth: 15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Max Features: 0.5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Min Sample Leaf: 3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Min Sample Split: 5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4" name="Google Shape;25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575" y="1095975"/>
            <a:ext cx="4470725" cy="29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ump King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29042" t="0"/>
          <a:stretch/>
        </p:blipFill>
        <p:spPr>
          <a:xfrm>
            <a:off x="2655825" y="1688"/>
            <a:ext cx="6488174" cy="51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4"/>
          <p:cNvSpPr/>
          <p:nvPr/>
        </p:nvSpPr>
        <p:spPr>
          <a:xfrm>
            <a:off x="2655825" y="0"/>
            <a:ext cx="6488100" cy="5143500"/>
          </a:xfrm>
          <a:prstGeom prst="rect">
            <a:avLst/>
          </a:prstGeom>
          <a:gradFill>
            <a:gsLst>
              <a:gs pos="0">
                <a:srgbClr val="162838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262" name="Google Shape;262;p34"/>
          <p:cNvSpPr/>
          <p:nvPr/>
        </p:nvSpPr>
        <p:spPr>
          <a:xfrm>
            <a:off x="1561925" y="1569275"/>
            <a:ext cx="5907000" cy="8388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Dataset Cleaning and Feature Engineering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1561925" y="2709231"/>
            <a:ext cx="5907000" cy="8388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Limited hyper-parameter testing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1561925" y="3849188"/>
            <a:ext cx="5907000" cy="8388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Cross-Validation presented challenges in Model evaluation</a:t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70" name="Google Shape;270;p35"/>
          <p:cNvSpPr/>
          <p:nvPr/>
        </p:nvSpPr>
        <p:spPr>
          <a:xfrm>
            <a:off x="952650" y="1003863"/>
            <a:ext cx="7238700" cy="9408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Chosen Model: 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Decision tree 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While not most accurate, Decision Trees provide an advantage in 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interpretability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. However, 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all 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model results are still not good.  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1279500" y="2138475"/>
            <a:ext cx="6585000" cy="838800"/>
          </a:xfrm>
          <a:prstGeom prst="rect">
            <a:avLst/>
          </a:prstGeom>
          <a:solidFill>
            <a:srgbClr val="2A475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Steam page features do not have significant predictive power to determine a games reception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952650" y="3171063"/>
            <a:ext cx="7238700" cy="9408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Game developers should prioritize gameplay features and factors that are unique to each game’s design to improve reception or performance.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73" name="Google Shape;273;p35"/>
          <p:cNvPicPr preferRelativeResize="0"/>
          <p:nvPr/>
        </p:nvPicPr>
        <p:blipFill rotWithShape="1">
          <a:blip r:embed="rId3">
            <a:alphaModFix/>
          </a:blip>
          <a:srcRect b="0" l="0" r="32253" t="0"/>
          <a:stretch/>
        </p:blipFill>
        <p:spPr>
          <a:xfrm>
            <a:off x="3378146" y="4424000"/>
            <a:ext cx="4133175" cy="49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nguins of madagascar skipper red eyes Meme Generator - Imgflip" id="274" name="Google Shape;27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2547" y="4253710"/>
            <a:ext cx="1486029" cy="8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Changes </a:t>
            </a:r>
            <a:endParaRPr/>
          </a:p>
        </p:txBody>
      </p:sp>
      <p:sp>
        <p:nvSpPr>
          <p:cNvPr id="280" name="Google Shape;280;p36"/>
          <p:cNvSpPr/>
          <p:nvPr/>
        </p:nvSpPr>
        <p:spPr>
          <a:xfrm>
            <a:off x="828900" y="1218400"/>
            <a:ext cx="7486200" cy="9954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Explore additional datasets with columns related to development strategies and production costs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1" name="Google Shape;281;p36"/>
          <p:cNvSpPr/>
          <p:nvPr/>
        </p:nvSpPr>
        <p:spPr>
          <a:xfrm>
            <a:off x="828900" y="2464326"/>
            <a:ext cx="7486200" cy="995400"/>
          </a:xfrm>
          <a:prstGeom prst="rect">
            <a:avLst/>
          </a:prstGeom>
          <a:solidFill>
            <a:srgbClr val="66C0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Drop rows with 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excessive</a:t>
            </a:r>
            <a:r>
              <a:rPr lang="en" sz="17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0 values in key columns to reduce noise and increase model accuracy</a:t>
            </a:r>
            <a:endParaRPr sz="17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2" name="Google Shape;282;p36" title="Screenshot 2025-04-23 at 15.55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2350" y="3577275"/>
            <a:ext cx="3533176" cy="144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EA Sports monochrome logo.svg - Wikipedia" id="283" name="Google Shape;28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7650" y="35275"/>
            <a:ext cx="1145825" cy="1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elcome to Steam" id="288" name="Google Shape;2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